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C1</c:v>
                </c:pt>
              </c:strCache>
            </c:strRef>
          </c:tx>
          <c:spPr>
            <a:solidFill>
              <a:srgbClr val="5388C4"/>
            </a:solidFill>
          </c:spPr>
          <c:cat>
            <c:strRef>
              <c:f>Sheet1!$A$2:$A$5</c:f>
              <c:strCache>
                <c:ptCount val="4"/>
                <c:pt idx="0">
                  <c:v>带价格的购买意愿-ABO</c:v>
                </c:pt>
                <c:pt idx="1">
                  <c:v>推荐度 (T2B)</c:v>
                </c:pt>
                <c:pt idx="2">
                  <c:v>总体喜欢程度 (T2B)</c:v>
                </c:pt>
                <c:pt idx="3">
                  <c:v>物有所值程度 (T2B)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92.0</c:v>
                </c:pt>
                <c:pt idx="1">
                  <c:v>93.0</c:v>
                </c:pt>
                <c:pt idx="2">
                  <c:v>64.0</c:v>
                </c:pt>
                <c:pt idx="3">
                  <c:v>82.0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C2</c:v>
                </c:pt>
              </c:strCache>
            </c:strRef>
          </c:tx>
          <c:spPr>
            <a:solidFill>
              <a:srgbClr val="C5534F"/>
            </a:solidFill>
          </c:spPr>
          <c:cat>
            <c:strRef>
              <c:f>Sheet1!$A$2:$A$5</c:f>
              <c:strCache>
                <c:ptCount val="4"/>
                <c:pt idx="0">
                  <c:v>带价格的购买意愿-ABO</c:v>
                </c:pt>
                <c:pt idx="1">
                  <c:v>推荐度 (T2B)</c:v>
                </c:pt>
                <c:pt idx="2">
                  <c:v>总体喜欢程度 (T2B)</c:v>
                </c:pt>
                <c:pt idx="3">
                  <c:v>物有所值程度 (T2B)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92.0</c:v>
                </c:pt>
                <c:pt idx="1">
                  <c:v>100.0</c:v>
                </c:pt>
                <c:pt idx="2">
                  <c:v>72.0</c:v>
                </c:pt>
                <c:pt idx="3">
                  <c:v>89.0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C1</c:v>
                </c:pt>
              </c:strCache>
            </c:strRef>
          </c:tx>
          <c:spPr>
            <a:solidFill>
              <a:srgbClr val="5388C4"/>
            </a:solidFill>
          </c:spPr>
          <c:cat>
            <c:strRef>
              <c:f>Sheet1!$A$2:$A$4</c:f>
              <c:strCache>
                <c:ptCount val="3"/>
                <c:pt idx="0">
                  <c:v>相关性 (T2B)</c:v>
                </c:pt>
                <c:pt idx="1">
                  <c:v>容易理解程度 (T2B)</c:v>
                </c:pt>
                <c:pt idx="2">
                  <c:v>可信度 (T2B)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88.0</c:v>
                </c:pt>
                <c:pt idx="1">
                  <c:v>84.0</c:v>
                </c:pt>
                <c:pt idx="2">
                  <c:v>88.0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C2</c:v>
                </c:pt>
              </c:strCache>
            </c:strRef>
          </c:tx>
          <c:spPr>
            <a:solidFill>
              <a:srgbClr val="C5534F"/>
            </a:solidFill>
          </c:spPr>
          <c:cat>
            <c:strRef>
              <c:f>Sheet1!$A$2:$A$4</c:f>
              <c:strCache>
                <c:ptCount val="3"/>
                <c:pt idx="0">
                  <c:v>相关性 (T2B)</c:v>
                </c:pt>
                <c:pt idx="1">
                  <c:v>容易理解程度 (T2B)</c:v>
                </c:pt>
                <c:pt idx="2">
                  <c:v>可信度 (T2B)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97.0</c:v>
                </c:pt>
                <c:pt idx="1">
                  <c:v>95.0</c:v>
                </c:pt>
                <c:pt idx="2">
                  <c:v>97.0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C1</c:v>
                </c:pt>
              </c:strCache>
            </c:strRef>
          </c:tx>
          <c:spPr>
            <a:solidFill>
              <a:srgbClr val="5388C4"/>
            </a:solidFill>
          </c:spPr>
          <c:cat>
            <c:strRef>
              <c:f>Sheet1!$A$2:$A$8</c:f>
              <c:strCache>
                <c:ptCount val="7"/>
                <c:pt idx="0">
                  <c:v>容易理解程度 (T2B)</c:v>
                </c:pt>
                <c:pt idx="1">
                  <c:v>相关性 (T2B)</c:v>
                </c:pt>
                <c:pt idx="2">
                  <c:v>推荐度 (T2B)</c:v>
                </c:pt>
                <c:pt idx="3">
                  <c:v>销售难易程度 (T1B)</c:v>
                </c:pt>
                <c:pt idx="4">
                  <c:v>独特性 (T1B)</c:v>
                </c:pt>
                <c:pt idx="5">
                  <c:v>可信度 (T2B)</c:v>
                </c:pt>
                <c:pt idx="6">
                  <c:v>总体喜欢程度 (T2B)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84.0</c:v>
                </c:pt>
                <c:pt idx="1">
                  <c:v>88.0</c:v>
                </c:pt>
                <c:pt idx="2">
                  <c:v>93.0</c:v>
                </c:pt>
                <c:pt idx="3">
                  <c:v>43.0</c:v>
                </c:pt>
                <c:pt idx="4">
                  <c:v>38.0</c:v>
                </c:pt>
                <c:pt idx="5">
                  <c:v>88.0</c:v>
                </c:pt>
                <c:pt idx="6">
                  <c:v>64.0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C2</c:v>
                </c:pt>
              </c:strCache>
            </c:strRef>
          </c:tx>
          <c:spPr>
            <a:solidFill>
              <a:srgbClr val="C5534F"/>
            </a:solidFill>
          </c:spPr>
          <c:cat>
            <c:strRef>
              <c:f>Sheet1!$A$2:$A$8</c:f>
              <c:strCache>
                <c:ptCount val="7"/>
                <c:pt idx="0">
                  <c:v>容易理解程度 (T2B)</c:v>
                </c:pt>
                <c:pt idx="1">
                  <c:v>相关性 (T2B)</c:v>
                </c:pt>
                <c:pt idx="2">
                  <c:v>推荐度 (T2B)</c:v>
                </c:pt>
                <c:pt idx="3">
                  <c:v>销售难易程度 (T1B)</c:v>
                </c:pt>
                <c:pt idx="4">
                  <c:v>独特性 (T1B)</c:v>
                </c:pt>
                <c:pt idx="5">
                  <c:v>可信度 (T2B)</c:v>
                </c:pt>
                <c:pt idx="6">
                  <c:v>总体喜欢程度 (T2B)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95.0</c:v>
                </c:pt>
                <c:pt idx="1">
                  <c:v>97.0</c:v>
                </c:pt>
                <c:pt idx="2">
                  <c:v>100.0</c:v>
                </c:pt>
                <c:pt idx="3">
                  <c:v>31.0</c:v>
                </c:pt>
                <c:pt idx="4">
                  <c:v>29.0</c:v>
                </c:pt>
                <c:pt idx="5">
                  <c:v>97.0</c:v>
                </c:pt>
                <c:pt idx="6">
                  <c:v>72.0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C2-C1</c:v>
                </c:pt>
              </c:strCache>
            </c:strRef>
          </c:tx>
          <c:spPr>
            <a:solidFill>
              <a:srgbClr val="5388C4"/>
            </a:solidFill>
          </c:spPr>
          <c:cat>
            <c:strRef>
              <c:f>Sheet1!$A$2:$A$8</c:f>
              <c:strCache>
                <c:ptCount val="7"/>
                <c:pt idx="0">
                  <c:v>容易理解程度 (T2B)</c:v>
                </c:pt>
                <c:pt idx="1">
                  <c:v>相关性 (T2B)</c:v>
                </c:pt>
                <c:pt idx="2">
                  <c:v>推荐度 (T2B)</c:v>
                </c:pt>
                <c:pt idx="3">
                  <c:v>销售难易程度 (T1B)</c:v>
                </c:pt>
                <c:pt idx="4">
                  <c:v>独特性 (T1B)</c:v>
                </c:pt>
                <c:pt idx="5">
                  <c:v>可信度 (T2B)</c:v>
                </c:pt>
                <c:pt idx="6">
                  <c:v>总体喜欢程度 (T2B)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11.0</c:v>
                </c:pt>
                <c:pt idx="1">
                  <c:v>9.0</c:v>
                </c:pt>
                <c:pt idx="2">
                  <c:v>7.0</c:v>
                </c:pt>
                <c:pt idx="3">
                  <c:v>-12.0</c:v>
                </c:pt>
                <c:pt idx="4">
                  <c:v>-9.0</c:v>
                </c:pt>
                <c:pt idx="5">
                  <c:v>9.0</c:v>
                </c:pt>
                <c:pt idx="6">
                  <c:v>8.0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C2-C1</c:v>
                </c:pt>
              </c:strCache>
            </c:strRef>
          </c:tx>
          <c:spPr>
            <a:solidFill>
              <a:srgbClr val="5388C4"/>
            </a:solidFill>
          </c:spPr>
          <c:cat>
            <c:strRef>
              <c:f>Sheet1!$A$2:$A$8</c:f>
              <c:strCache>
                <c:ptCount val="7"/>
                <c:pt idx="0">
                  <c:v>容易理解程度 (T2B)</c:v>
                </c:pt>
                <c:pt idx="1">
                  <c:v>相关性 (T2B)</c:v>
                </c:pt>
                <c:pt idx="2">
                  <c:v>推荐度 (T2B)</c:v>
                </c:pt>
                <c:pt idx="3">
                  <c:v>可信度 (T2B)</c:v>
                </c:pt>
                <c:pt idx="4">
                  <c:v>总体喜欢程度 (T2B)</c:v>
                </c:pt>
                <c:pt idx="5">
                  <c:v>销售难易程度 (T1B)</c:v>
                </c:pt>
                <c:pt idx="6">
                  <c:v>独特性 (T1B)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11.0</c:v>
                </c:pt>
                <c:pt idx="1">
                  <c:v>9.0</c:v>
                </c:pt>
                <c:pt idx="2">
                  <c:v>7.0</c:v>
                </c:pt>
                <c:pt idx="3">
                  <c:v>9.0</c:v>
                </c:pt>
                <c:pt idx="4">
                  <c:v>8.0</c:v>
                </c:pt>
                <c:pt idx="5">
                  <c:v>-12.0</c:v>
                </c:pt>
                <c:pt idx="6">
                  <c:v>-9.0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515600" cy="10058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安利纽崔莱新品概念测试调研报告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9601200" cy="5943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r>
              <a:rPr sz="1700" b="0">
                <a:solidFill>
                  <a:srgbClr val="DCE9CF"/>
                </a:solidFill>
                <a:latin typeface="Microsoft YaHei"/>
              </a:rPr>
              <a:t>从概念表现、转化诊断到行动建议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897880"/>
            <a:ext cx="365760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Microsoft YaHe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8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4A896B"/>
                </a:solidFill>
                <a:latin typeface="Microsoft YaHei"/>
              </a:rPr>
              <a:t>研究说明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438912"/>
            <a:ext cx="11201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7365D"/>
                </a:solidFill>
                <a:latin typeface="Microsoft YaHei"/>
              </a:rPr>
              <a:t>研究不止回答哪个概念分数更高，更要解释优势如何形成、短板如何影响转化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11055096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业务问题与研究任务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74519"/>
            <a:ext cx="11000232" cy="15179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本报告围绕“重点关注一包到位概念、购买意愿、理解度和优化方向”组织证据。研究不按问卷题号逐项复述，而是判断两个概念是否值得继续、哪一个更适合作为主方案，以及领先概念的利益表达、价值证明和转化障碍分别在哪里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最终输出同时服务概念选择与下一轮迭代：既保留真正驱动喜欢、推荐和购买的要素，也把会拖累理解、可信度、价值感或销售难易的短板转化为明确修改任务。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739896"/>
            <a:ext cx="11055096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证据如何转化为决策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97096"/>
            <a:ext cx="11000232" cy="18470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分析先比较总体接受度、推荐、偏好和购买意愿，再用相关性、易理解、可信、独特和价值感等属性解释结果；直接比较与间接评价一致时提高结论置信度，不一致时说明消费者情感偏好与理性证明之间的错位。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显著性用于界定证据强度，但不是唯一决策门槛。多个关键指标方向一致时仍可形成方向性推荐；小样本和数据缺口只限定结论边界，不会替代对已有证据的业务判断。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8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4A896B"/>
                </a:solidFill>
                <a:latin typeface="Microsoft YaHei"/>
              </a:rPr>
              <a:t>研究设计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438912"/>
            <a:ext cx="11201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7365D"/>
                </a:solidFill>
                <a:latin typeface="Microsoft YaHei"/>
              </a:rPr>
              <a:t>统一概念、受众、Base与量表口径，才能把差异解释为真实的概念表现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11055096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研究对象与比较边界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74519"/>
            <a:ext cx="11000232" cy="15179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本研究比较两个候选概念，并区分总体、ABO与消费者口径。。所有概念比较只使用相同指标、相同受众、相同分群和相同量表的记录，总体、ABO与消费者的Base不混用，测试顺序也不被解释为人群差异。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这一设计确保页面上的概念差值来自可比证据，而不是样本结构或统计口径变化。对于Base过小的结果，只将其作为后续验证线索，不作为主结论。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739896"/>
            <a:ext cx="11055096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判断标准与证据强度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97096"/>
            <a:ext cx="11000232" cy="18470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显著差异被视为强证据；当差异未达到显著但多个关键指标方向一致、且对购买或推荐具有清晰业务影响时，报告仍给出中等置信度的方向性判断。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推荐概念需要同时满足总体表现不劣、至少一个关键模块形成优势、且没有不可接受的核心短板。这样可以避免只因某一单项高分就推进，也避免因所有差异未显著而错失明确的优化方向。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8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4A896B"/>
                </a:solidFill>
                <a:latin typeface="Microsoft YaHei"/>
              </a:rPr>
              <a:t>分析框架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438912"/>
            <a:ext cx="11201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7365D"/>
                </a:solidFill>
                <a:latin typeface="Microsoft YaHei"/>
              </a:rPr>
              <a:t>报告按消费者决策链组织指标，从吸引力逐层追踪到理解、价值与购买转化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11055096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从总体评价判断是否值得推进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74519"/>
            <a:ext cx="11000232" cy="15179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概念吸引力、喜欢、推荐、偏好与购买意愿共同构成推进判断。总体评价回答“消费者是否愿意接近”，购买与推荐回答“吸引力能否转化为行动”；两类指标之间的落差本身就是需要解释的转化损耗。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概念吸引力用于回答哪个概念更能激发喜欢、推荐和购买？；沟通诊断用于回答消费者是否理解、相信并认为概念与自己相关？；差异化与定位用于回答概念是否形成独特、清晰且有竞争力的价值定位？；商业转化用于回答概念能否支撑价格、价值感和渠道销售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739896"/>
            <a:ext cx="11055096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从属性与障碍判断如何优化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97096"/>
            <a:ext cx="11000232" cy="18470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相关性、易理解、可信、独特和价值感用于解释概念为什么领先或落后。喜欢与不喜欢的反馈用于识别驱动因素与阻碍因素，但只有数据包含JAR结果时才使用惩罚分析；否则将其称为属性缺口或转化障碍。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每个发现最终必须落到“必须保留、必须修复、可以后置”三类任务，并把行动连接到目标受众、预期影响、复测方法和成功指标，形成可以被业务执行的闭环。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8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4A896B"/>
                </a:solidFill>
                <a:latin typeface="Microsoft YaHei"/>
              </a:rPr>
              <a:t>研究结论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438912"/>
            <a:ext cx="11201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7365D"/>
                </a:solidFill>
                <a:latin typeface="Microsoft YaHei"/>
              </a:rPr>
              <a:t>建议以C1为主方案推进，并针对关键短板设定下一轮验证门槛。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266944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总体判断与证据强度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74519"/>
            <a:ext cx="5212080" cy="4169663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50" b="0">
                <a:solidFill>
                  <a:srgbClr val="253238"/>
                </a:solidFill>
                <a:latin typeface="Microsoft YaHei"/>
              </a:rPr>
              <a:t>建议以C1为主方案推进，并针对关键短板设定下一轮验证门槛。。当前决策状态为conditional_go，置信度为medium。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50" b="0">
                <a:solidFill>
                  <a:srgbClr val="253238"/>
                </a:solidFill>
                <a:latin typeface="Microsoft YaHei"/>
              </a:rPr>
              <a:t>核心概念指标已按统一口径完成比较该结论需要与总体吸引力、沟通理解、价值证明和购买转化共同阅读；业务应保留真正驱动选择的优势，并把高影响短板转化为下一轮概念修改与复测门槛。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1928" y="1417320"/>
            <a:ext cx="5340096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推进时必须守住的条件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74519"/>
            <a:ext cx="5285232" cy="4169663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50" b="0">
                <a:solidFill>
                  <a:srgbClr val="253238"/>
                </a:solidFill>
                <a:latin typeface="Microsoft YaHei"/>
              </a:rPr>
              <a:t>必须保留：保留领先指标对应的核心利益、购买理由和最具差异化的表达。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50" b="0">
                <a:solidFill>
                  <a:srgbClr val="253238"/>
                </a:solidFill>
                <a:latin typeface="Microsoft YaHei"/>
              </a:rPr>
              <a:t>必须修复并验证：优先修复会拖累理解、价值感或购买意愿的短板，并用同口径复测确认改善。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50" b="0">
                <a:solidFill>
                  <a:srgbClr val="253238"/>
                </a:solidFill>
                <a:latin typeface="Microsoft YaHei"/>
              </a:rPr>
              <a:t>结论均保留可追溯证据编号该结论需要与总体吸引力、沟通理解、价值证明和购买转化共同阅读；业务应保留真正驱动选择的优势，并把高影响短板转化为下一轮概念修改与复测门槛。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8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4A896B"/>
                </a:solidFill>
                <a:latin typeface="Microsoft YaHei"/>
              </a:rPr>
              <a:t>主要发现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438912"/>
            <a:ext cx="11201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7365D"/>
                </a:solidFill>
                <a:latin typeface="Microsoft YaHei"/>
              </a:rPr>
              <a:t>概念吸引力的8项同口径证据已形成可用于概念决策的组合判断。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6409944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核心指标表现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30352" y="1837943"/>
          <a:ext cx="6483096" cy="424281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1417320"/>
            <a:ext cx="4215383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研究解读与业务建议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34072" y="1874519"/>
            <a:ext cx="4160520" cy="4169663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0">
                <a:solidFill>
                  <a:srgbClr val="253238"/>
                </a:solidFill>
                <a:latin typeface="Microsoft YaHei"/>
              </a:rPr>
              <a:t>带价格的购买意愿-ABO B2B：C1为1%，C2为2%，差异未达统计显著。；带价格的购买意愿-ABO Mean：C1为4.4，C2为4.38，差异未达统计显著。；带价格的购买意愿-ABO T1B：C1为49%，C2为48%，差异未达统计显著。；带价格的购买意愿-ABO T2B：C1为92%，C2为92%，差异未达统计显著。。这些结果应放回消费者决策链共同解释：总体吸引力决定是否愿意接近，理解与可信支撑利益承诺，价值感进一步影响推荐和购买。多项指标同向时，说明表现差异更可能来自概念在该环节的系统性优势或短板，而不是单一题目波动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0">
                <a:solidFill>
                  <a:srgbClr val="253238"/>
                </a:solidFill>
                <a:latin typeface="Microsoft YaHei"/>
              </a:rPr>
              <a:t>业务上应保留与购买决策直接相关的领先利益点，并把拖累理解、可信、价值感或购买意愿的落后项转化为具体的产品方案、概念文案或渠道话术修改。下一轮使用相同受众、Base、量表与核心KPI复测，以短板改善且核心优势不下降作为通过条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82512"/>
            <a:ext cx="10469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来源：带价格的购买意愿-ABO；Base=100；推荐度；Base=100；总体喜欢程度；Base=100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8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4A896B"/>
                </a:solidFill>
                <a:latin typeface="Microsoft YaHei"/>
              </a:rPr>
              <a:t>主要发现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438912"/>
            <a:ext cx="11201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7365D"/>
                </a:solidFill>
                <a:latin typeface="Microsoft YaHei"/>
              </a:rPr>
              <a:t>沟通诊断的2项同口径证据已形成可用于概念决策的组合判断。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11055096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研究解读与业务建议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74519"/>
            <a:ext cx="11000232" cy="14264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相关性 T2B：C1为88%，C2为97A%，差异达到统计显著。；容易理解程度 T2B：C1为84%，C2为95A%，差异达到统计显著。。这些结果应放回消费者决策链共同解释：总体吸引力决定是否愿意接近，理解与可信支撑利益承诺，价值感进一步影响推荐和购买。多项指标同向时，说明表现差异更可能来自概念在该环节的系统性优势或短板，而不是单一题目波动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业务上应保留与购买决策直接相关的领先利益点，并把拖累理解、可信、价值感或购买意愿的落后项转化为具体的产品方案、概念文案或渠道话术修改。下一轮使用相同受众、Base、量表与核心KPI复测，以短板改善且核心优势不下降作为通过条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30168"/>
            <a:ext cx="11055096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核心指标表现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30352" y="4050791"/>
          <a:ext cx="11128248" cy="20299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382512"/>
            <a:ext cx="10469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来源：相关性；Base=100；容易理解程度；Base=100；可信度；Base=100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8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4A896B"/>
                </a:solidFill>
                <a:latin typeface="Microsoft YaHei"/>
              </a:rPr>
              <a:t>主要发现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438912"/>
            <a:ext cx="11201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7365D"/>
                </a:solidFill>
                <a:latin typeface="Microsoft YaHei"/>
              </a:rPr>
              <a:t>跨模块比较显示概念优势与短板集中在不同转化环节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6501383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跨模块核心KPI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30352" y="1837943"/>
          <a:ext cx="6574536" cy="17099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849624"/>
            <a:ext cx="6501383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C2相对C1的跨模块差值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30352" y="4270248"/>
          <a:ext cx="6574536" cy="1810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1417320"/>
            <a:ext cx="4123944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从表现差异到资源优先级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5512" y="1874519"/>
            <a:ext cx="4069080" cy="4169663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0">
                <a:solidFill>
                  <a:srgbClr val="253238"/>
                </a:solidFill>
                <a:latin typeface="Microsoft YaHei"/>
              </a:rPr>
              <a:t>C2在5项核心指标方向领先、在2项指标方向落后。绝对水平用于判断市场是否接受，概念差值用于判断相对竞争力；两者必须结合显著性、方向一致性和指标对购买决策的影响共同解释。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0">
                <a:solidFill>
                  <a:srgbClr val="253238"/>
                </a:solidFill>
                <a:latin typeface="Microsoft YaHei"/>
              </a:rPr>
              <a:t>领先模块应被转化为主概念的核心利益和购买理由，而落后项不能停留在脚注中。优先处理那些会拖累理解、价值感、推荐或购买，且能够通过概念表达、产品方案或渠道话术被修复的短板。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0">
                <a:solidFill>
                  <a:srgbClr val="253238"/>
                </a:solidFill>
                <a:latin typeface="Microsoft YaHei"/>
              </a:rPr>
              <a:t>研究上应把这些指标放回同一消费者决策链理解：总体吸引力决定是否愿意接近，理解与可信支撑利益承诺，价值感把兴趣转化为购买和推荐。业务不应平均优化所有指标，而应优先关闭对转化影响最大且能够被产品方案、概念文案或渠道话术修复的缺口，并在下一轮用同口径指标验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82512"/>
            <a:ext cx="10469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来源：容易理解程度；Base=100；相关性；Base=100；推荐度；Base=100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8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4A896B"/>
                </a:solidFill>
                <a:latin typeface="Microsoft YaHei"/>
              </a:rPr>
              <a:t>主要发现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438912"/>
            <a:ext cx="11201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7365D"/>
                </a:solidFill>
                <a:latin typeface="Microsoft YaHei"/>
              </a:rPr>
              <a:t>优势与短板必须成对阅读，才能确定概念优化的优先顺序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11055096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C2相对C1的优势与短板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30352" y="1837943"/>
          <a:ext cx="11128248" cy="15910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703320"/>
            <a:ext cx="11055096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概念迭代不应平均用力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11000232" cy="18836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领先幅度大且与购买决策直接相关的利益点应进入概念首屏，并用具体消费场景解释其价值；这类优势负责建立主张和差异化，不应被大量次要信息稀释。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短板则要逐项转化为文案、产品方案或渠道话术修改。优先处理会拖累理解、可信、价值感或购买意愿的缺口，下一轮复测以短板改善且核心优势不下降作为通过条件。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研究上应把这些指标放回同一消费者决策链理解：总体吸引力决定是否愿意接近，理解与可信支撑利益承诺，价值感把兴趣转化为购买和推荐。业务不应平均优化所有指标，而应优先关闭对转化影响最大且能够被产品方案、概念文案或渠道话术修复的缺口，并在下一轮用同口径指标验证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82512"/>
            <a:ext cx="10469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来源：容易理解程度；Base=100；相关性；Base=100；推荐度；Base=100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8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4A896B"/>
                </a:solidFill>
                <a:latin typeface="Microsoft YaHei"/>
              </a:rPr>
              <a:t>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438912"/>
            <a:ext cx="11201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7365D"/>
                </a:solidFill>
                <a:latin typeface="Microsoft YaHei"/>
              </a:rPr>
              <a:t>将研究发现转化为有优先级、可验证的业务行动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73152" cy="2148840"/>
          </a:xfrm>
          <a:prstGeom prst="rect">
            <a:avLst/>
          </a:prstGeom>
          <a:solidFill>
            <a:srgbClr val="4A8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4A896B"/>
                </a:solidFill>
                <a:latin typeface="Microsoft YaHei"/>
              </a:rPr>
              <a:t>优先级 1｜沟通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37360"/>
            <a:ext cx="3520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17365D"/>
                </a:solidFill>
                <a:latin typeface="Microsoft YaHei"/>
              </a:rPr>
              <a:t>简化核心概念表达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1444752"/>
            <a:ext cx="7360920" cy="19385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0">
                <a:solidFill>
                  <a:srgbClr val="253238"/>
                </a:solidFill>
                <a:latin typeface="Microsoft YaHei"/>
              </a:rPr>
              <a:t>提升理解度并强化购买理由。该行动应回到概念测试的消费者决策链判断：识别哪项优势真正驱动理解、价值感、推荐或购买，只修复造成转化损耗的表达或方案，并避免在优化短板时削弱已经形成的核心吸引力。。预期将改善与该建议关联的核心研究指标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0">
                <a:solidFill>
                  <a:srgbClr val="253238"/>
                </a:solidFill>
                <a:latin typeface="Microsoft YaHei"/>
              </a:rPr>
              <a:t>执行风险是过度简化可能削弱差异化；下一步采用开展两版概念文案快速验证；成功标准为在下一轮同口径验证中确认改善。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3785616"/>
            <a:ext cx="73152" cy="2148840"/>
          </a:xfrm>
          <a:prstGeom prst="rect">
            <a:avLst/>
          </a:prstGeom>
          <a:solidFill>
            <a:srgbClr val="E5BC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78561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4A896B"/>
                </a:solidFill>
                <a:latin typeface="Microsoft YaHei"/>
              </a:rPr>
              <a:t>优先级 2｜下一步研究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33088"/>
            <a:ext cx="3520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17365D"/>
                </a:solidFill>
                <a:latin typeface="Microsoft YaHei"/>
              </a:rPr>
              <a:t>复核重点指标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3840480"/>
            <a:ext cx="7360920" cy="19385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0">
                <a:solidFill>
                  <a:srgbClr val="253238"/>
                </a:solidFill>
                <a:latin typeface="Microsoft YaHei"/>
              </a:rPr>
              <a:t>确认结论在目标受众中的稳定性。该行动应回到概念测试的消费者决策链判断：识别哪项优势真正驱动理解、价值感、推荐或购买，只修复造成转化损耗的表达或方案，并避免在优化短板时削弱已经形成的核心吸引力。。预期将改善与该建议关联的核心研究指标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0">
                <a:solidFill>
                  <a:srgbClr val="253238"/>
                </a:solidFill>
                <a:latin typeface="Microsoft YaHei"/>
              </a:rPr>
              <a:t>执行风险是样本不足会影响判断；下一步采用补充目标人群样本并复测；成功标准为在下一轮同口径验证中确认改善。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8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4A896B"/>
                </a:solidFill>
                <a:latin typeface="Microsoft YaHei"/>
              </a:rPr>
              <a:t>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438912"/>
            <a:ext cx="11201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7365D"/>
                </a:solidFill>
                <a:latin typeface="Microsoft YaHei"/>
              </a:rPr>
              <a:t>用明确的成功指标和验证计划降低后续决策风险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73152" cy="2148840"/>
          </a:xfrm>
          <a:prstGeom prst="rect">
            <a:avLst/>
          </a:prstGeom>
          <a:solidFill>
            <a:srgbClr val="4A8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4A896B"/>
                </a:solidFill>
                <a:latin typeface="Microsoft YaHei"/>
              </a:rPr>
              <a:t>优先级 1｜概念策略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37360"/>
            <a:ext cx="3520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17365D"/>
                </a:solidFill>
                <a:latin typeface="Microsoft YaHei"/>
              </a:rPr>
              <a:t>以C2为主线整合优势卖点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1444752"/>
            <a:ext cx="7360920" cy="19385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0">
                <a:solidFill>
                  <a:srgbClr val="253238"/>
                </a:solidFill>
                <a:latin typeface="Microsoft YaHei"/>
              </a:rPr>
              <a:t>核心KPI、直接偏好与沟通诊断需要作为一条证据链阅读，而不能依赖单一高分指标。主概念应保留能够同时带动相关性、理解、推荐和购买的利益点，并把不影响选择的次要信息后置，使消费者首先看到清晰的核心承诺和购买理由。。预期将提升概念理解、推荐和购买意愿的协同表现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0">
                <a:solidFill>
                  <a:srgbClr val="253238"/>
                </a:solidFill>
                <a:latin typeface="Microsoft YaHei"/>
              </a:rPr>
              <a:t>执行风险是优势指标可能未覆盖所有目标人群；下一步采用用优化前后两版概念进行同口径快速复测；成功标准为核心KPI改善且关键短板不再拖累转化。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3785616"/>
            <a:ext cx="73152" cy="2148840"/>
          </a:xfrm>
          <a:prstGeom prst="rect">
            <a:avLst/>
          </a:prstGeom>
          <a:solidFill>
            <a:srgbClr val="E5BC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78561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4A896B"/>
                </a:solidFill>
                <a:latin typeface="Microsoft YaHei"/>
              </a:rPr>
              <a:t>优先级 3｜商业转化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33088"/>
            <a:ext cx="3520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17365D"/>
                </a:solidFill>
                <a:latin typeface="Microsoft YaHei"/>
              </a:rPr>
              <a:t>把价值证明与购买门槛放在同一方案中验证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3840480"/>
            <a:ext cx="7360920" cy="19385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0">
                <a:solidFill>
                  <a:srgbClr val="253238"/>
                </a:solidFill>
                <a:latin typeface="Microsoft YaHei"/>
              </a:rPr>
              <a:t>概念喜欢或推荐并不会自动转化为购买。若价值感、价格接受或销售难易弱于总体吸引力，应把它视为转化损耗，联合检查利益证明、使用场景、价格锚点和渠道解释是否一致，而不是继续增加产品信息。。预期将缩小从兴趣到购买的转化落差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0">
                <a:solidFill>
                  <a:srgbClr val="253238"/>
                </a:solidFill>
                <a:latin typeface="Microsoft YaHei"/>
              </a:rPr>
              <a:t>执行风险是价格与渠道因素可能相互影响；下一步采用在目标受众中测试利益证明、价格表达和渠道话术组合；成功标准为购买意愿与价值感同步改善且核心吸引力不下降。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8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4A896B"/>
                </a:solidFill>
                <a:latin typeface="Microsoft YaHei"/>
              </a:rPr>
              <a:t>风险与下一步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438912"/>
            <a:ext cx="11201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7365D"/>
                </a:solidFill>
                <a:latin typeface="Microsoft YaHei"/>
              </a:rPr>
              <a:t>现有证据足以支持阶段性选择，数据缺口主要决定后续验证的精度与边界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8757D"/>
                </a:solidFill>
                <a:latin typeface="Microsoft Ya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11055096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证据边界不会替代当前业务判断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74519"/>
            <a:ext cx="11000232" cy="15179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部分结果需要结合样本质量谨慎解释。这些风险用于说明置信度和适用范围，并不推翻同口径概念比较已经显示的方向。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缺少价格弹性数据，当前定价建议只依据价值感与购买意愿。。尚待补充的数据主要影响定价、人群优先级或长期转化判断的精度，因此主概念选择与后续优化可以分阶段决策。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739896"/>
            <a:ext cx="11055096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7365D"/>
                </a:solidFill>
                <a:latin typeface="Microsoft YaHei"/>
              </a:rPr>
              <a:t>下一轮验证应直接检验修改是否关闭转化缺口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97096"/>
            <a:ext cx="11000232" cy="18470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下一轮应围绕必须修复项制作明确的修改版本，保持核心优势表达不变，并使用与本轮一致的受众、Base、量表和核心KPI复测。这样才能把指标变化归因于概念优化，而不是样本或口径变化。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253238"/>
                </a:solidFill>
                <a:latin typeface="Microsoft YaHei"/>
              </a:rPr>
              <a:t>通过标准不是所有指标全面上升，而是高影响短板出现可解释改善、购买或推荐转化同步增强，同时原有优势不下降。若关键短板没有改善，应回到消费者机制层面重新审视利益证明、价格价值关系或沟通复杂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